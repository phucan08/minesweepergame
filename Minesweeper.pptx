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" Type="http://schemas.openxmlformats.org/officeDocument/2006/relationships/printerSettings" Target="printerSettings/printerSettings1.bin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D5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FFFFF"/>
                </a:solidFill>
              </a:defRPr>
            </a:pPr>
            <a:r>
              <a:t>Minesweeper DSA Project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>
              <a:defRPr>
                <a:solidFill>
                  <a:srgbClr val="FFFFFF"/>
                </a:solidFill>
              </a:defRPr>
            </a:pPr>
            <a:r>
              <a:t>JavaFX • AI • Undo/Redo • Ranking System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D5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FFFFF"/>
                </a:solidFill>
              </a:defRPr>
            </a:pPr>
            <a:r>
              <a:t>Live Demo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>
              <a:defRPr>
                <a:solidFill>
                  <a:srgbClr val="FFFFFF"/>
                </a:solidFill>
              </a:defRPr>
            </a:pPr>
            <a:r>
              <a:t>AI Move demonstration</a:t>
            </a:r>
          </a:p>
          <a:p>
            <a:pPr lvl="1">
              <a:defRPr>
                <a:solidFill>
                  <a:srgbClr val="FFFFFF"/>
                </a:solidFill>
              </a:defRPr>
            </a:pPr>
            <a:r>
              <a:t>Undo/Redo</a:t>
            </a:r>
          </a:p>
          <a:p>
            <a:pPr lvl="1">
              <a:defRPr>
                <a:solidFill>
                  <a:srgbClr val="FFFFFF"/>
                </a:solidFill>
              </a:defRPr>
            </a:pPr>
            <a:r>
              <a:t>Timer</a:t>
            </a:r>
          </a:p>
          <a:p>
            <a:pPr lvl="1">
              <a:defRPr>
                <a:solidFill>
                  <a:srgbClr val="FFFFFF"/>
                </a:solidFill>
              </a:defRPr>
            </a:pPr>
            <a:r>
              <a:t>Mine counter</a:t>
            </a:r>
          </a:p>
          <a:p>
            <a:pPr lvl="1">
              <a:defRPr>
                <a:solidFill>
                  <a:srgbClr val="FFFFFF"/>
                </a:solidFill>
              </a:defRPr>
            </a:pPr>
            <a:r>
              <a:t>Gameplay flow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3C7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FFFFF"/>
                </a:solidFill>
              </a:defRPr>
            </a:pPr>
            <a:r>
              <a:t>Gameplay Interface</a:t>
            </a:r>
          </a:p>
        </p:txBody>
      </p:sp>
      <p:pic>
        <p:nvPicPr>
          <p:cNvPr id="3" name="Picture 2" descr="fc5a72f1-7233-4061-b1ee-185107c481d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598166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3C7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FFFFF"/>
                </a:solidFill>
              </a:defRPr>
            </a:pPr>
            <a:r>
              <a:t>How to Play Window</a:t>
            </a:r>
          </a:p>
        </p:txBody>
      </p:sp>
      <p:pic>
        <p:nvPicPr>
          <p:cNvPr id="3" name="Picture 2" descr="97fd8382-bc40-496d-ab2a-85f78fd692b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880597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3C7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FFFFF"/>
                </a:solidFill>
              </a:defRPr>
            </a:pPr>
            <a:r>
              <a:t>Best Times Window</a:t>
            </a:r>
          </a:p>
        </p:txBody>
      </p:sp>
      <p:pic>
        <p:nvPicPr>
          <p:cNvPr id="3" name="Picture 2" descr="2362e9eb-c096-4f21-a316-9b9b8f627f4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867166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D5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FFFFF"/>
                </a:solidFill>
              </a:defRPr>
            </a:pPr>
            <a:r>
              <a:t>System Architecture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>
              <a:defRPr>
                <a:solidFill>
                  <a:srgbClr val="FFFFFF"/>
                </a:solidFill>
              </a:defRPr>
            </a:pPr>
            <a:r>
              <a:t>UI Layer</a:t>
            </a:r>
          </a:p>
          <a:p>
            <a:pPr lvl="1">
              <a:defRPr>
                <a:solidFill>
                  <a:srgbClr val="FFFFFF"/>
                </a:solidFill>
              </a:defRPr>
            </a:pPr>
            <a:r>
              <a:t>Service Layer</a:t>
            </a:r>
          </a:p>
          <a:p>
            <a:pPr lvl="1">
              <a:defRPr>
                <a:solidFill>
                  <a:srgbClr val="FFFFFF"/>
                </a:solidFill>
              </a:defRPr>
            </a:pPr>
            <a:r>
              <a:t>Model Layer</a:t>
            </a:r>
          </a:p>
          <a:p>
            <a:pPr lvl="1">
              <a:defRPr>
                <a:solidFill>
                  <a:srgbClr val="FFFFFF"/>
                </a:solidFill>
              </a:defRPr>
            </a:pPr>
            <a:r>
              <a:t>Utils Layer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D5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FFFFF"/>
                </a:solidFill>
              </a:defRPr>
            </a:pPr>
            <a:r>
              <a:t>Architecture Diagram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>
              <a:defRPr>
                <a:solidFill>
                  <a:srgbClr val="FFFFFF"/>
                </a:solidFill>
              </a:defRPr>
            </a:pPr>
            <a:r>
              <a:t>UI → Service → Model → Utils</a:t>
            </a:r>
          </a:p>
          <a:p>
            <a:pPr lvl="1">
              <a:defRPr>
                <a:solidFill>
                  <a:srgbClr val="FFFFFF"/>
                </a:solidFill>
              </a:defRPr>
            </a:pPr>
            <a:r>
              <a:t>Loose coupling, high cohesion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D5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FFFFF"/>
                </a:solidFill>
              </a:defRPr>
            </a:pPr>
            <a:r>
              <a:t>UML Class Diagram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>
              <a:defRPr>
                <a:solidFill>
                  <a:srgbClr val="FFFFFF"/>
                </a:solidFill>
              </a:defRPr>
            </a:pPr>
            <a:r>
              <a:t>GameService</a:t>
            </a:r>
          </a:p>
          <a:p>
            <a:pPr lvl="1">
              <a:defRPr>
                <a:solidFill>
                  <a:srgbClr val="FFFFFF"/>
                </a:solidFill>
              </a:defRPr>
            </a:pPr>
            <a:r>
              <a:t>AISolver</a:t>
            </a:r>
          </a:p>
          <a:p>
            <a:pPr lvl="1">
              <a:defRPr>
                <a:solidFill>
                  <a:srgbClr val="FFFFFF"/>
                </a:solidFill>
              </a:defRPr>
            </a:pPr>
            <a:r>
              <a:t>StatisticsService</a:t>
            </a:r>
          </a:p>
          <a:p>
            <a:pPr lvl="1">
              <a:defRPr>
                <a:solidFill>
                  <a:srgbClr val="FFFFFF"/>
                </a:solidFill>
              </a:defRPr>
            </a:pPr>
            <a:r>
              <a:t>Board</a:t>
            </a:r>
          </a:p>
          <a:p>
            <a:pPr lvl="1">
              <a:defRPr>
                <a:solidFill>
                  <a:srgbClr val="FFFFFF"/>
                </a:solidFill>
              </a:defRPr>
            </a:pPr>
            <a:r>
              <a:t>Cell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D5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FFFFF"/>
                </a:solidFill>
              </a:defRPr>
            </a:pPr>
            <a:r>
              <a:t>Classes Overview – Core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>
              <a:defRPr>
                <a:solidFill>
                  <a:srgbClr val="FFFFFF"/>
                </a:solidFill>
              </a:defRPr>
            </a:pPr>
            <a:r>
              <a:t>GameService: main logic</a:t>
            </a:r>
          </a:p>
          <a:p>
            <a:pPr lvl="1">
              <a:defRPr>
                <a:solidFill>
                  <a:srgbClr val="FFFFFF"/>
                </a:solidFill>
              </a:defRPr>
            </a:pPr>
            <a:r>
              <a:t>AISolver: logical inference</a:t>
            </a:r>
          </a:p>
          <a:p>
            <a:pPr lvl="1">
              <a:defRPr>
                <a:solidFill>
                  <a:srgbClr val="FFFFFF"/>
                </a:solidFill>
              </a:defRPr>
            </a:pPr>
            <a:r>
              <a:t>StatisticsService: rankings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D5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FFFFF"/>
                </a:solidFill>
              </a:defRPr>
            </a:pPr>
            <a:r>
              <a:t>Classes Overview – Supporting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>
              <a:defRPr>
                <a:solidFill>
                  <a:srgbClr val="FFFFFF"/>
                </a:solidFill>
              </a:defRPr>
            </a:pPr>
            <a:r>
              <a:t>Board / Cell</a:t>
            </a:r>
          </a:p>
          <a:p>
            <a:pPr lvl="1">
              <a:defRPr>
                <a:solidFill>
                  <a:srgbClr val="FFFFFF"/>
                </a:solidFill>
              </a:defRPr>
            </a:pPr>
            <a:r>
              <a:t>FloodFill</a:t>
            </a:r>
          </a:p>
          <a:p>
            <a:pPr lvl="1">
              <a:defRPr>
                <a:solidFill>
                  <a:srgbClr val="FFFFFF"/>
                </a:solidFill>
              </a:defRPr>
            </a:pPr>
            <a:r>
              <a:t>BoardGenerator</a:t>
            </a:r>
          </a:p>
          <a:p>
            <a:pPr lvl="1">
              <a:defRPr>
                <a:solidFill>
                  <a:srgbClr val="FFFFFF"/>
                </a:solidFill>
              </a:defRPr>
            </a:pPr>
            <a:r>
              <a:t>MinesweeperApp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D5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FFFFF"/>
                </a:solidFill>
              </a:defRPr>
            </a:pPr>
            <a:r>
              <a:t>Data Structures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>
              <a:defRPr>
                <a:solidFill>
                  <a:srgbClr val="FFFFFF"/>
                </a:solidFill>
              </a:defRPr>
            </a:pPr>
            <a:r>
              <a:t>2D Array</a:t>
            </a:r>
          </a:p>
          <a:p>
            <a:pPr lvl="1">
              <a:defRPr>
                <a:solidFill>
                  <a:srgbClr val="FFFFFF"/>
                </a:solidFill>
              </a:defRPr>
            </a:pPr>
            <a:r>
              <a:t>Queue</a:t>
            </a:r>
          </a:p>
          <a:p>
            <a:pPr lvl="1">
              <a:defRPr>
                <a:solidFill>
                  <a:srgbClr val="FFFFFF"/>
                </a:solidFill>
              </a:defRPr>
            </a:pPr>
            <a:r>
              <a:t>Stacks</a:t>
            </a:r>
          </a:p>
          <a:p>
            <a:pPr lvl="1">
              <a:defRPr>
                <a:solidFill>
                  <a:srgbClr val="FFFFFF"/>
                </a:solidFill>
              </a:defRPr>
            </a:pPr>
            <a:r>
              <a:t>PriorityQueue</a:t>
            </a:r>
          </a:p>
          <a:p>
            <a:pPr lvl="1">
              <a:defRPr>
                <a:solidFill>
                  <a:srgbClr val="FFFFFF"/>
                </a:solidFill>
              </a:defRPr>
            </a:pPr>
            <a:r>
              <a:t>EnumMap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D5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FFFFF"/>
                </a:solidFill>
              </a:defRPr>
            </a:pPr>
            <a:r>
              <a:t>Why These Structures?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>
              <a:defRPr>
                <a:solidFill>
                  <a:srgbClr val="FFFFFF"/>
                </a:solidFill>
              </a:defRPr>
            </a:pPr>
            <a:r>
              <a:t>Efficient access</a:t>
            </a:r>
          </a:p>
          <a:p>
            <a:pPr lvl="1">
              <a:defRPr>
                <a:solidFill>
                  <a:srgbClr val="FFFFFF"/>
                </a:solidFill>
              </a:defRPr>
            </a:pPr>
            <a:r>
              <a:t>Undo/Redo model</a:t>
            </a:r>
          </a:p>
          <a:p>
            <a:pPr lvl="1">
              <a:defRPr>
                <a:solidFill>
                  <a:srgbClr val="FFFFFF"/>
                </a:solidFill>
              </a:defRPr>
            </a:pPr>
            <a:r>
              <a:t>Fast BFS</a:t>
            </a:r>
          </a:p>
          <a:p>
            <a:pPr lvl="1">
              <a:defRPr>
                <a:solidFill>
                  <a:srgbClr val="FFFFFF"/>
                </a:solidFill>
              </a:defRPr>
            </a:pPr>
            <a:r>
              <a:t>Top-10 management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D5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FFFFF"/>
                </a:solidFill>
              </a:defRPr>
            </a:pPr>
            <a:r>
              <a:t>BFS Flood-Fill Algorithm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>
              <a:defRPr>
                <a:solidFill>
                  <a:srgbClr val="FFFFFF"/>
                </a:solidFill>
              </a:defRPr>
            </a:pPr>
            <a:r>
              <a:t>Expands zero regions</a:t>
            </a:r>
          </a:p>
          <a:p>
            <a:pPr lvl="1">
              <a:defRPr>
                <a:solidFill>
                  <a:srgbClr val="FFFFFF"/>
                </a:solidFill>
              </a:defRPr>
            </a:pPr>
            <a:r>
              <a:t>Reveals boundary numbers</a:t>
            </a:r>
          </a:p>
          <a:p>
            <a:pPr lvl="1">
              <a:defRPr>
                <a:solidFill>
                  <a:srgbClr val="FFFFFF"/>
                </a:solidFill>
              </a:defRPr>
            </a:pPr>
            <a:r>
              <a:t>Avoids recursion issues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D5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FFFFF"/>
                </a:solidFill>
              </a:defRPr>
            </a:pPr>
            <a:r>
              <a:t>Undo/Redo Mechanism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>
              <a:defRPr>
                <a:solidFill>
                  <a:srgbClr val="FFFFFF"/>
                </a:solidFill>
              </a:defRPr>
            </a:pPr>
            <a:r>
              <a:t>Two stacks</a:t>
            </a:r>
          </a:p>
          <a:p>
            <a:pPr lvl="1">
              <a:defRPr>
                <a:solidFill>
                  <a:srgbClr val="FFFFFF"/>
                </a:solidFill>
              </a:defRPr>
            </a:pPr>
            <a:r>
              <a:t>Command Pattern</a:t>
            </a:r>
          </a:p>
          <a:p>
            <a:pPr lvl="1">
              <a:defRPr>
                <a:solidFill>
                  <a:srgbClr val="FFFFFF"/>
                </a:solidFill>
              </a:defRPr>
            </a:pPr>
            <a:r>
              <a:t>Full state restore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D5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FFFFF"/>
                </a:solidFill>
              </a:defRPr>
            </a:pPr>
            <a:r>
              <a:t>AI Solver Algorithm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>
              <a:defRPr>
                <a:solidFill>
                  <a:srgbClr val="FFFFFF"/>
                </a:solidFill>
              </a:defRPr>
            </a:pPr>
            <a:r>
              <a:t>Deterministic inference</a:t>
            </a:r>
          </a:p>
          <a:p>
            <a:pPr lvl="1">
              <a:defRPr>
                <a:solidFill>
                  <a:srgbClr val="FFFFFF"/>
                </a:solidFill>
              </a:defRPr>
            </a:pPr>
            <a:r>
              <a:t>Logical deduction rules</a:t>
            </a:r>
          </a:p>
          <a:p>
            <a:pPr lvl="1">
              <a:defRPr>
                <a:solidFill>
                  <a:srgbClr val="FFFFFF"/>
                </a:solidFill>
              </a:defRPr>
            </a:pPr>
            <a:r>
              <a:t>Random safe guess fallback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D5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FFFFF"/>
                </a:solidFill>
              </a:defRPr>
            </a:pPr>
            <a:r>
              <a:t>GUI Layout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>
              <a:defRPr>
                <a:solidFill>
                  <a:srgbClr val="FFFFFF"/>
                </a:solidFill>
              </a:defRPr>
            </a:pPr>
            <a:r>
              <a:t>JavaFX GridPane</a:t>
            </a:r>
          </a:p>
          <a:p>
            <a:pPr lvl="1">
              <a:defRPr>
                <a:solidFill>
                  <a:srgbClr val="FFFFFF"/>
                </a:solidFill>
              </a:defRPr>
            </a:pPr>
            <a:r>
              <a:t>Toolbar controls</a:t>
            </a:r>
          </a:p>
          <a:p>
            <a:pPr lvl="1">
              <a:defRPr>
                <a:solidFill>
                  <a:srgbClr val="FFFFFF"/>
                </a:solidFill>
              </a:defRPr>
            </a:pPr>
            <a:r>
              <a:t>Dynamic tile rendering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D5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FFFFF"/>
                </a:solidFill>
              </a:defRPr>
            </a:pPr>
            <a:r>
              <a:t>Gameplay Interactions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>
              <a:defRPr>
                <a:solidFill>
                  <a:srgbClr val="FFFFFF"/>
                </a:solidFill>
              </a:defRPr>
            </a:pPr>
            <a:r>
              <a:t>Left click: reveal</a:t>
            </a:r>
          </a:p>
          <a:p>
            <a:pPr lvl="1">
              <a:defRPr>
                <a:solidFill>
                  <a:srgbClr val="FFFFFF"/>
                </a:solidFill>
              </a:defRPr>
            </a:pPr>
            <a:r>
              <a:t>Right click: flag</a:t>
            </a:r>
          </a:p>
          <a:p>
            <a:pPr lvl="1">
              <a:defRPr>
                <a:solidFill>
                  <a:srgbClr val="FFFFFF"/>
                </a:solidFill>
              </a:defRPr>
            </a:pPr>
            <a:r>
              <a:t>AI Move</a:t>
            </a:r>
          </a:p>
          <a:p>
            <a:pPr lvl="1">
              <a:defRPr>
                <a:solidFill>
                  <a:srgbClr val="FFFFFF"/>
                </a:solidFill>
              </a:defRPr>
            </a:pPr>
            <a:r>
              <a:t>Undo/Redo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D5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FFFFF"/>
                </a:solidFill>
              </a:defRPr>
            </a:pPr>
            <a:r>
              <a:t>Testing Strategy – Functional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>
              <a:defRPr>
                <a:solidFill>
                  <a:srgbClr val="FFFFFF"/>
                </a:solidFill>
              </a:defRPr>
            </a:pPr>
            <a:r>
              <a:t>Reveal logic</a:t>
            </a:r>
          </a:p>
          <a:p>
            <a:pPr lvl="1">
              <a:defRPr>
                <a:solidFill>
                  <a:srgbClr val="FFFFFF"/>
                </a:solidFill>
              </a:defRPr>
            </a:pPr>
            <a:r>
              <a:t>Flag logic</a:t>
            </a:r>
          </a:p>
          <a:p>
            <a:pPr lvl="1">
              <a:defRPr>
                <a:solidFill>
                  <a:srgbClr val="FFFFFF"/>
                </a:solidFill>
              </a:defRPr>
            </a:pPr>
            <a:r>
              <a:t>Flood-fill</a:t>
            </a:r>
          </a:p>
          <a:p>
            <a:pPr lvl="1">
              <a:defRPr>
                <a:solidFill>
                  <a:srgbClr val="FFFFFF"/>
                </a:solidFill>
              </a:defRPr>
            </a:pPr>
            <a:r>
              <a:t>AI tests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D5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FFFFF"/>
                </a:solidFill>
              </a:defRPr>
            </a:pPr>
            <a:r>
              <a:t>Testing Strategy – System-Level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>
              <a:defRPr>
                <a:solidFill>
                  <a:srgbClr val="FFFFFF"/>
                </a:solidFill>
              </a:defRPr>
            </a:pPr>
            <a:r>
              <a:t>Undo/Redo stress test</a:t>
            </a:r>
          </a:p>
          <a:p>
            <a:pPr lvl="1">
              <a:defRPr>
                <a:solidFill>
                  <a:srgbClr val="FFFFFF"/>
                </a:solidFill>
              </a:defRPr>
            </a:pPr>
            <a:r>
              <a:t>Persistence testing</a:t>
            </a:r>
          </a:p>
          <a:p>
            <a:pPr lvl="1">
              <a:defRPr>
                <a:solidFill>
                  <a:srgbClr val="FFFFFF"/>
                </a:solidFill>
              </a:defRPr>
            </a:pPr>
            <a:r>
              <a:t>Extreme board performance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D5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FFFFF"/>
                </a:solidFill>
              </a:defRPr>
            </a:pPr>
            <a:r>
              <a:t>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>
              <a:defRPr>
                <a:solidFill>
                  <a:srgbClr val="FFFFFF"/>
                </a:solidFill>
              </a:defRPr>
            </a:pPr>
            <a:r>
              <a:t>Stable performance</a:t>
            </a:r>
          </a:p>
          <a:p>
            <a:pPr lvl="1">
              <a:defRPr>
                <a:solidFill>
                  <a:srgbClr val="FFFFFF"/>
                </a:solidFill>
              </a:defRPr>
            </a:pPr>
            <a:r>
              <a:t>Accurate AI</a:t>
            </a:r>
          </a:p>
          <a:p>
            <a:pPr lvl="1">
              <a:defRPr>
                <a:solidFill>
                  <a:srgbClr val="FFFFFF"/>
                </a:solidFill>
              </a:defRPr>
            </a:pPr>
            <a:r>
              <a:t>Reliable Undo/Redo</a:t>
            </a:r>
          </a:p>
          <a:p>
            <a:pPr lvl="1">
              <a:defRPr>
                <a:solidFill>
                  <a:srgbClr val="FFFFFF"/>
                </a:solidFill>
              </a:defRPr>
            </a:pPr>
            <a:r>
              <a:t>Smooth GUI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D5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FFFFF"/>
                </a:solidFill>
              </a:defRPr>
            </a:pPr>
            <a:r>
              <a:t>Future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>
              <a:defRPr>
                <a:solidFill>
                  <a:srgbClr val="FFFFFF"/>
                </a:solidFill>
              </a:defRPr>
            </a:pPr>
            <a:r>
              <a:t>Probabilistic AI</a:t>
            </a:r>
          </a:p>
          <a:p>
            <a:pPr lvl="1">
              <a:defRPr>
                <a:solidFill>
                  <a:srgbClr val="FFFFFF"/>
                </a:solidFill>
              </a:defRPr>
            </a:pPr>
            <a:r>
              <a:t>Online leaderboard</a:t>
            </a:r>
          </a:p>
          <a:p>
            <a:pPr lvl="1">
              <a:defRPr>
                <a:solidFill>
                  <a:srgbClr val="FFFFFF"/>
                </a:solidFill>
              </a:defRPr>
            </a:pPr>
            <a:r>
              <a:t>Themes &amp; animations</a:t>
            </a:r>
          </a:p>
          <a:p>
            <a:pPr lvl="1">
              <a:defRPr>
                <a:solidFill>
                  <a:srgbClr val="FFFFFF"/>
                </a:solidFill>
              </a:defRPr>
            </a:pPr>
            <a:r>
              <a:t>Mobile version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D5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FFFFF"/>
                </a:solidFill>
              </a:defRPr>
            </a:pPr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>
              <a:defRPr>
                <a:solidFill>
                  <a:srgbClr val="FFFFFF"/>
                </a:solidFill>
              </a:defRPr>
            </a:pPr>
            <a:r>
              <a:t>Strong DSA integration</a:t>
            </a:r>
          </a:p>
          <a:p>
            <a:pPr lvl="1">
              <a:defRPr>
                <a:solidFill>
                  <a:srgbClr val="FFFFFF"/>
                </a:solidFill>
              </a:defRPr>
            </a:pPr>
            <a:r>
              <a:t>Scalable architecture</a:t>
            </a:r>
          </a:p>
          <a:p>
            <a:pPr lvl="1">
              <a:defRPr>
                <a:solidFill>
                  <a:srgbClr val="FFFFFF"/>
                </a:solidFill>
              </a:defRPr>
            </a:pPr>
            <a:r>
              <a:t>Complete feature-rich game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